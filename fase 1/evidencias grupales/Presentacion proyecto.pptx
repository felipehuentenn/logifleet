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E2431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754880" cy="4754880"/>
          </a:xfrm>
          <a:prstGeom prst="ellipse">
            <a:avLst/>
          </a:prstGeom>
          <a:solidFill>
            <a:srgbClr val="0E243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28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CAPSTONE_002D  ·  PROYECTO APT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9692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de gestión logística, despacho de pedidos y mantenimiento de flotas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1750">
            <a:solidFill>
              <a:srgbClr val="E283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 — Primera fase del proyecto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28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Constanza Alarcón   ·   Francisco Cofré   ·   Felipe Huenten   ·   Joaquín Indo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Juan Carlos Saba Samur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INFORME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36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733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descripción del proyecto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36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7249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y relevancia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36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7764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el perfil de egreso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36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8280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 intereses profesionales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36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167335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y alcance del MVP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2743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36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264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27249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indicadores de calidad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3794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736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264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7764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reflexión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PROPUESTA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problema común en las pymes de reparto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pequeñas y medianas empresas administran sus despachos y su flota mediante planillas, mensajería u otros registros no integrados.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dificulta el seguimiento de pedidos, vehículos y mantenciones, sobre todo cuando la operación crece.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6035040" cy="2194560"/>
          </a:xfrm>
          <a:prstGeom prst="roundRect">
            <a:avLst>
              <a:gd name="adj" fmla="val 3333"/>
            </a:avLst>
          </a:prstGeom>
          <a:solidFill>
            <a:srgbClr val="1736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886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28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2519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web que centraliza despachos, rutas, flota y mantenimiento, desarrollada como MVP con Python, FastAPI y MySQL.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1691640"/>
            <a:ext cx="4297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16368" y="1897380"/>
            <a:ext cx="548640" cy="548640"/>
          </a:xfrm>
          <a:prstGeom prst="ellipse">
            <a:avLst/>
          </a:prstGeom>
          <a:solidFill>
            <a:srgbClr val="2E6171"/>
          </a:solidFill>
          <a:ln/>
        </p:spPr>
      </p:sp>
      <p:pic>
        <p:nvPicPr>
          <p:cNvPr id="10" name="Image 0" descr="icons/bo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8042" y="2029054"/>
            <a:ext cx="285293" cy="28529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75320" y="169164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Despachos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15200" y="2852928"/>
            <a:ext cx="4297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16368" y="3058668"/>
            <a:ext cx="548640" cy="548640"/>
          </a:xfrm>
          <a:prstGeom prst="ellipse">
            <a:avLst/>
          </a:prstGeom>
          <a:solidFill>
            <a:srgbClr val="2E6171"/>
          </a:solidFill>
          <a:ln/>
        </p:spPr>
      </p:sp>
      <p:pic>
        <p:nvPicPr>
          <p:cNvPr id="14" name="Image 1" descr="icons/rou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042" y="3190342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275320" y="285292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315200" y="4014216"/>
            <a:ext cx="4297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516368" y="4219956"/>
            <a:ext cx="548640" cy="548640"/>
          </a:xfrm>
          <a:prstGeom prst="ellipse">
            <a:avLst/>
          </a:prstGeom>
          <a:solidFill>
            <a:srgbClr val="2E6171"/>
          </a:solidFill>
          <a:ln/>
        </p:spPr>
      </p:sp>
      <p:pic>
        <p:nvPicPr>
          <p:cNvPr id="18" name="Image 2" descr="icons/tru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42" y="4351630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75320" y="4014216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315200" y="5175504"/>
            <a:ext cx="4297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16368" y="5381244"/>
            <a:ext cx="548640" cy="548640"/>
          </a:xfrm>
          <a:prstGeom prst="ellipse">
            <a:avLst/>
          </a:prstGeom>
          <a:solidFill>
            <a:srgbClr val="2E6171"/>
          </a:solidFill>
          <a:ln/>
        </p:spPr>
      </p:sp>
      <p:pic>
        <p:nvPicPr>
          <p:cNvPr id="22" name="Image 3" descr="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042" y="5512918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275320" y="5175504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módulos principales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4F1E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17364A"/>
          </a:solidFill>
          <a:ln/>
        </p:spPr>
      </p:sp>
      <p:pic>
        <p:nvPicPr>
          <p:cNvPr id="6" name="Image 0" descr="icons/bo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1086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928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despachos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clientes y órdenes, asignación de vehículo y conductor, control de estados de entrega.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4F1EC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17364A"/>
          </a:solidFill>
          <a:ln/>
        </p:spPr>
      </p:sp>
      <p:pic>
        <p:nvPicPr>
          <p:cNvPr id="11" name="Image 1" descr="icons/rou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886" y="210860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8928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y priorización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6517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de entregas por zona, priorización por urgencia y visualización en mapa.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4F1EC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434840"/>
            <a:ext cx="594360" cy="594360"/>
          </a:xfrm>
          <a:prstGeom prst="ellipse">
            <a:avLst/>
          </a:prstGeom>
          <a:solidFill>
            <a:srgbClr val="17364A"/>
          </a:solidFill>
          <a:ln/>
        </p:spPr>
      </p:sp>
      <p:pic>
        <p:nvPicPr>
          <p:cNvPr id="16" name="Image 2" descr="icons/tru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57748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3616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Flota y mantenimiento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1206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vehículos, kilometraje, mantenciones y alertas de mantenimiento próximo.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1605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4F1E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434840"/>
            <a:ext cx="594360" cy="594360"/>
          </a:xfrm>
          <a:prstGeom prst="ellipse">
            <a:avLst/>
          </a:prstGeom>
          <a:solidFill>
            <a:srgbClr val="17364A"/>
          </a:solidFill>
          <a:ln/>
        </p:spPr>
      </p:sp>
      <p:pic>
        <p:nvPicPr>
          <p:cNvPr id="21" name="Image 3" descr="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86" y="457748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3616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operacionales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51206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despachos, estados de pedidos, costos y estado de la flota.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3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8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Y RELEVANCIA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este proyecto importa?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organización deficiente de pedidos, vehículos y mantenciones genera pérdida de información y dificulta el seguimiento operativo. Centralizar estos datos permite decisiones más informadas.</a:t>
            </a:r>
            <a:endParaRPr lang="en-US" sz="1450" dirty="0"/>
          </a:p>
        </p:txBody>
      </p:sp>
      <p:pic>
        <p:nvPicPr>
          <p:cNvPr id="5" name="Image 0" descr="icons/checkCircl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8328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332841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órdenes de despacho</a:t>
            </a:r>
            <a:endParaRPr lang="en-US" sz="1350" dirty="0"/>
          </a:p>
        </p:txBody>
      </p:sp>
      <p:pic>
        <p:nvPicPr>
          <p:cNvPr id="7" name="Image 1" descr="icons/checkCircle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13632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" y="38587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del estado de los pedidos</a:t>
            </a:r>
            <a:endParaRPr lang="en-US" sz="1350" dirty="0"/>
          </a:p>
        </p:txBody>
      </p:sp>
      <p:pic>
        <p:nvPicPr>
          <p:cNvPr id="9" name="Image 2" descr="icons/checkCircle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43984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05840" y="4389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vehículos y conductores</a:t>
            </a:r>
            <a:endParaRPr lang="en-US" sz="1350" dirty="0"/>
          </a:p>
        </p:txBody>
      </p:sp>
      <p:pic>
        <p:nvPicPr>
          <p:cNvPr id="11" name="Image 3" descr="icons/checkCircle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974336"/>
            <a:ext cx="292608" cy="2926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05840" y="49194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por zonas y prioridades</a:t>
            </a:r>
            <a:endParaRPr lang="en-US" sz="1350" dirty="0"/>
          </a:p>
        </p:txBody>
      </p:sp>
      <p:pic>
        <p:nvPicPr>
          <p:cNvPr id="13" name="Image 4" descr="icons/checkCircle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504688"/>
            <a:ext cx="292608" cy="29260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05840" y="54498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identificación de mantenimientos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6309360" y="1600200"/>
            <a:ext cx="5303520" cy="4617720"/>
          </a:xfrm>
          <a:prstGeom prst="roundRect">
            <a:avLst>
              <a:gd name="adj" fmla="val 1782"/>
            </a:avLst>
          </a:prstGeom>
          <a:solidFill>
            <a:srgbClr val="0E2431"/>
          </a:solidFill>
          <a:ln/>
        </p:spPr>
      </p:sp>
      <p:sp>
        <p:nvSpPr>
          <p:cNvPr id="16" name="Shape 9"/>
          <p:cNvSpPr/>
          <p:nvPr/>
        </p:nvSpPr>
        <p:spPr>
          <a:xfrm>
            <a:off x="6629400" y="1920240"/>
            <a:ext cx="640080" cy="640080"/>
          </a:xfrm>
          <a:prstGeom prst="ellipse">
            <a:avLst/>
          </a:prstGeom>
          <a:solidFill>
            <a:srgbClr val="2E6171"/>
          </a:solidFill>
          <a:ln/>
        </p:spPr>
      </p:sp>
      <p:pic>
        <p:nvPicPr>
          <p:cNvPr id="17" name="Image 5" descr="icons/userTi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019" y="2073859"/>
            <a:ext cx="332842" cy="33284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452360" y="1965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para la carrera</a:t>
            </a:r>
            <a:endParaRPr lang="en-US" sz="1600" dirty="0"/>
          </a:p>
        </p:txBody>
      </p:sp>
      <p:sp>
        <p:nvSpPr>
          <p:cNvPr id="19" name="Text 11"/>
          <p:cNvSpPr txBox="1"/>
          <p:nvPr/>
        </p:nvSpPr>
        <p:spPr>
          <a:xfrm>
            <a:off x="6629400" y="274320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integra distintas áreas de formación: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base de datos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software y APIs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de gestión de proyectos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ejecución de pruebas de calidad</a:t>
            </a:r>
            <a:endParaRPr lang="en-US" sz="1400" dirty="0"/>
          </a:p>
        </p:txBody>
      </p:sp>
      <p:sp>
        <p:nvSpPr>
          <p:cNvPr id="20" name="Text 1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EL PERFIL DE EGRESO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Áreas de formación aplicadas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3840480"/>
          </a:xfrm>
          <a:prstGeom prst="roundRect">
            <a:avLst>
              <a:gd name="adj" fmla="val 3103"/>
            </a:avLst>
          </a:prstGeom>
          <a:solidFill>
            <a:srgbClr val="F4F1EC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2103120"/>
            <a:ext cx="685800" cy="685800"/>
          </a:xfrm>
          <a:prstGeom prst="ellipse">
            <a:avLst/>
          </a:prstGeom>
          <a:solidFill>
            <a:srgbClr val="17364A"/>
          </a:solidFill>
          <a:ln/>
        </p:spPr>
      </p:sp>
      <p:pic>
        <p:nvPicPr>
          <p:cNvPr id="6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2677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57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entidad-relación implementado en MySQL para clientes, vehículos, órdenes y mantenimientos.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783080"/>
            <a:ext cx="2651760" cy="38404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1980" y="2103120"/>
            <a:ext cx="685800" cy="685800"/>
          </a:xfrm>
          <a:prstGeom prst="ellipse">
            <a:avLst/>
          </a:prstGeom>
          <a:solidFill>
            <a:srgbClr val="17364A"/>
          </a:solidFill>
          <a:ln/>
        </p:spPr>
      </p:sp>
      <p:pic>
        <p:nvPicPr>
          <p:cNvPr id="11" name="Image 1" descr="icons/laptop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572" y="22677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3657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con backend en Python y FastAPI, e interfaz para las funcionalidades clave.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783080"/>
            <a:ext cx="2651760" cy="3840480"/>
          </a:xfrm>
          <a:prstGeom prst="roundRect">
            <a:avLst>
              <a:gd name="adj" fmla="val 3103"/>
            </a:avLst>
          </a:prstGeom>
          <a:solidFill>
            <a:srgbClr val="F4F1EC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92340" y="2103120"/>
            <a:ext cx="685800" cy="685800"/>
          </a:xfrm>
          <a:prstGeom prst="ellipse">
            <a:avLst/>
          </a:prstGeom>
          <a:solidFill>
            <a:srgbClr val="17364A"/>
          </a:solidFill>
          <a:ln/>
        </p:spPr>
      </p:sp>
      <p:pic>
        <p:nvPicPr>
          <p:cNvPr id="16" name="Image 2" descr="icons/projectDiagra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932" y="22677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46520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657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 actividades, responsabilidades y seguimiento mediante tablero y repositorio.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1783080"/>
            <a:ext cx="2651760" cy="384048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DFD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172700" y="2103120"/>
            <a:ext cx="685800" cy="685800"/>
          </a:xfrm>
          <a:prstGeom prst="ellipse">
            <a:avLst/>
          </a:prstGeom>
          <a:solidFill>
            <a:srgbClr val="17364A"/>
          </a:solidFill>
          <a:ln/>
        </p:spPr>
      </p:sp>
      <p:pic>
        <p:nvPicPr>
          <p:cNvPr id="21" name="Image 3" descr="icons/clipboard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292" y="226771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2971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calidad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9372600" y="3657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ejecución de pruebas sobre reglas de negocio y comportamiento esperado.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INTERESES PROFESIONALES DEL EQUIPO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equipo, cuatro especialidades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548640" cy="548640"/>
          </a:xfrm>
          <a:prstGeom prst="ellipse">
            <a:avLst/>
          </a:prstGeom>
          <a:solidFill>
            <a:srgbClr val="2E6171"/>
          </a:solidFill>
          <a:ln/>
        </p:spPr>
      </p:sp>
      <p:pic>
        <p:nvPicPr>
          <p:cNvPr id="6" name="Image 0" descr="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79346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Cofré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219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28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y desarrollo de software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la base de datos, backend y conexión entre módulos.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947672"/>
            <a:ext cx="548640" cy="548640"/>
          </a:xfrm>
          <a:prstGeom prst="ellipse">
            <a:avLst/>
          </a:prstGeom>
          <a:solidFill>
            <a:srgbClr val="2E6171"/>
          </a:solidFill>
          <a:ln/>
        </p:spPr>
      </p:sp>
      <p:pic>
        <p:nvPicPr>
          <p:cNvPr id="12" name="Image 1" descr="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14" y="207934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23760" y="18745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Huenten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7223760" y="222199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28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de negocios y análisis de datos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743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indicadores, reportes y análisis de la información generada.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1605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416552"/>
            <a:ext cx="548640" cy="548640"/>
          </a:xfrm>
          <a:prstGeom prst="ellipse">
            <a:avLst/>
          </a:prstGeom>
          <a:solidFill>
            <a:srgbClr val="2E6171"/>
          </a:solidFill>
          <a:ln/>
        </p:spPr>
      </p:sp>
      <p:pic>
        <p:nvPicPr>
          <p:cNvPr id="18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548226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4343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Constanza Alarcón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1554480" y="46908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28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 y análisis de sistemas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2120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requerimientos, planificación y seguimiento del avance.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17920" y="416052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4416552"/>
            <a:ext cx="548640" cy="548640"/>
          </a:xfrm>
          <a:prstGeom prst="ellipse">
            <a:avLst/>
          </a:prstGeom>
          <a:solidFill>
            <a:srgbClr val="2E6171"/>
          </a:solidFill>
          <a:ln/>
        </p:spPr>
      </p:sp>
      <p:pic>
        <p:nvPicPr>
          <p:cNvPr id="24" name="Image 3" descr="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4548226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23760" y="4343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Joaquín Indo</a:t>
            </a:r>
            <a:endParaRPr lang="en-US" sz="1550" dirty="0"/>
          </a:p>
        </p:txBody>
      </p:sp>
      <p:sp>
        <p:nvSpPr>
          <p:cNvPr id="26" name="Text 20"/>
          <p:cNvSpPr txBox="1"/>
          <p:nvPr/>
        </p:nvSpPr>
        <p:spPr>
          <a:xfrm>
            <a:off x="7223760" y="46908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28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y control de calidad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6492240" y="52120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casos de prueba, validación de funcionalidades y verificación de correcciones.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DEL PROYECTO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MVP pensado para tres meses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4206240"/>
          </a:xfrm>
          <a:prstGeom prst="roundRect">
            <a:avLst>
              <a:gd name="adj" fmla="val 2500"/>
            </a:avLst>
          </a:prstGeom>
          <a:solidFill>
            <a:srgbClr val="1736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28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en el equipo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3291840"/>
            <a:ext cx="2011680" cy="0"/>
          </a:xfrm>
          <a:prstGeom prst="line">
            <a:avLst/>
          </a:prstGeom>
          <a:noFill/>
          <a:ln w="12700">
            <a:solidFill>
              <a:srgbClr val="2E4A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429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28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de desarrollo estimado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4846320"/>
            <a:ext cx="2011680" cy="0"/>
          </a:xfrm>
          <a:prstGeom prst="line">
            <a:avLst/>
          </a:prstGeom>
          <a:noFill/>
          <a:ln w="12700">
            <a:solidFill>
              <a:srgbClr val="2E4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983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8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86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priorizado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consideradas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06240" y="2148840"/>
            <a:ext cx="566928" cy="566928"/>
          </a:xfrm>
          <a:prstGeom prst="ellipse">
            <a:avLst/>
          </a:prstGeom>
          <a:solidFill>
            <a:srgbClr val="F4F1EC"/>
          </a:solidFill>
          <a:ln/>
        </p:spPr>
      </p:sp>
      <p:pic>
        <p:nvPicPr>
          <p:cNvPr id="15" name="Image 0" descr="icons/serv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2303" y="2284903"/>
            <a:ext cx="294803" cy="294803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3886200" y="2770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80760" y="2148840"/>
            <a:ext cx="566928" cy="566928"/>
          </a:xfrm>
          <a:prstGeom prst="ellipse">
            <a:avLst/>
          </a:prstGeom>
          <a:solidFill>
            <a:srgbClr val="F4F1EC"/>
          </a:solidFill>
          <a:ln/>
        </p:spPr>
      </p:sp>
      <p:pic>
        <p:nvPicPr>
          <p:cNvPr id="18" name="Image 1" descr="icons/datab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823" y="2284903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760720" y="2770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955280" y="2148840"/>
            <a:ext cx="566928" cy="566928"/>
          </a:xfrm>
          <a:prstGeom prst="ellipse">
            <a:avLst/>
          </a:prstGeom>
          <a:solidFill>
            <a:srgbClr val="F4F1EC"/>
          </a:solidFill>
          <a:ln/>
        </p:spPr>
      </p:sp>
      <p:pic>
        <p:nvPicPr>
          <p:cNvPr id="21" name="Image 2" descr="icons/laptopCod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343" y="2284903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635240" y="2770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829800" y="2148840"/>
            <a:ext cx="566928" cy="566928"/>
          </a:xfrm>
          <a:prstGeom prst="ellipse">
            <a:avLst/>
          </a:prstGeom>
          <a:solidFill>
            <a:srgbClr val="F4F1EC"/>
          </a:solidFill>
          <a:ln/>
        </p:spPr>
      </p:sp>
      <p:pic>
        <p:nvPicPr>
          <p:cNvPr id="24" name="Image 3" descr="icons/cog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863" y="228490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509760" y="2770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42062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del trabajo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4206240" y="379476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utiliza un tablero de trabajo para priorizar tareas según su importancia para el MVP, y un repositorio Git para mantener el historial de cambios e integrar el trabajo de cada integrante.</a:t>
            </a:r>
            <a:endParaRPr lang="en-US" sz="1350" dirty="0"/>
          </a:p>
        </p:txBody>
      </p:sp>
      <p:sp>
        <p:nvSpPr>
          <p:cNvPr id="28" name="Text 22"/>
          <p:cNvSpPr txBox="1"/>
          <p:nvPr/>
        </p:nvSpPr>
        <p:spPr>
          <a:xfrm>
            <a:off x="4206240" y="50292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Etapas: planificación → diseño → desarrollo → pruebas → entrega final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PROYECTO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 el MVP — y qué 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17364A"/>
          </a:solidFill>
          <a:ln/>
        </p:spPr>
      </p:sp>
      <p:pic>
        <p:nvPicPr>
          <p:cNvPr id="6" name="Image 0" descr="icons/check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el MVP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660904"/>
            <a:ext cx="91440" cy="91440"/>
          </a:xfrm>
          <a:prstGeom prst="ellipse">
            <a:avLst/>
          </a:prstGeom>
          <a:solidFill>
            <a:srgbClr val="E2831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97280" y="253288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gestión de clientes y órdenes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227832"/>
            <a:ext cx="91440" cy="91440"/>
          </a:xfrm>
          <a:prstGeom prst="ellipse">
            <a:avLst/>
          </a:prstGeom>
          <a:solidFill>
            <a:srgbClr val="E2831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309981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vehículos y conductores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3794760"/>
            <a:ext cx="91440" cy="91440"/>
          </a:xfrm>
          <a:prstGeom prst="ellipse">
            <a:avLst/>
          </a:prstGeom>
          <a:solidFill>
            <a:srgbClr val="E2831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97280" y="366674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estado de las órdenes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361688"/>
            <a:ext cx="91440" cy="91440"/>
          </a:xfrm>
          <a:prstGeom prst="ellipse">
            <a:avLst/>
          </a:prstGeom>
          <a:solidFill>
            <a:srgbClr val="E2831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97280" y="423367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por zona y prioridad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4928616"/>
            <a:ext cx="91440" cy="91440"/>
          </a:xfrm>
          <a:prstGeom prst="ellipse">
            <a:avLst/>
          </a:prstGeom>
          <a:solidFill>
            <a:srgbClr val="E2831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97280" y="480060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vehículos, kilometraje y mantenimientos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68680" y="5495544"/>
            <a:ext cx="91440" cy="91440"/>
          </a:xfrm>
          <a:prstGeom prst="ellipse">
            <a:avLst/>
          </a:prstGeom>
          <a:solidFill>
            <a:srgbClr val="E2831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97280" y="53675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mantenimiento y reportes básicos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09360" y="1691640"/>
            <a:ext cx="5303520" cy="4572000"/>
          </a:xfrm>
          <a:prstGeom prst="roundRect">
            <a:avLst>
              <a:gd name="adj" fmla="val 1800"/>
            </a:avLst>
          </a:prstGeom>
          <a:solidFill>
            <a:srgbClr val="0E2431"/>
          </a:solidFill>
          <a:ln/>
        </p:spPr>
      </p:sp>
      <p:sp>
        <p:nvSpPr>
          <p:cNvPr id="21" name="Shape 18"/>
          <p:cNvSpPr/>
          <p:nvPr/>
        </p:nvSpPr>
        <p:spPr>
          <a:xfrm>
            <a:off x="6583680" y="1920240"/>
            <a:ext cx="457200" cy="457200"/>
          </a:xfrm>
          <a:prstGeom prst="ellipse">
            <a:avLst/>
          </a:prstGeom>
          <a:solidFill>
            <a:srgbClr val="2E6171"/>
          </a:solidFill>
          <a:ln/>
        </p:spPr>
      </p:sp>
      <p:pic>
        <p:nvPicPr>
          <p:cNvPr id="22" name="Image 1" descr="icons/ba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02996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17804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629400" y="2660904"/>
            <a:ext cx="91440" cy="91440"/>
          </a:xfrm>
          <a:prstGeom prst="ellipse">
            <a:avLst/>
          </a:prstGeom>
          <a:solidFill>
            <a:srgbClr val="E2831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858000" y="25328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GPS en tiempo real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629400" y="3227832"/>
            <a:ext cx="91440" cy="91440"/>
          </a:xfrm>
          <a:prstGeom prst="ellipse">
            <a:avLst/>
          </a:prstGeom>
          <a:solidFill>
            <a:srgbClr val="E2831E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858000" y="30998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nativa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629400" y="3794760"/>
            <a:ext cx="91440" cy="91440"/>
          </a:xfrm>
          <a:prstGeom prst="ellipse">
            <a:avLst/>
          </a:prstGeom>
          <a:solidFill>
            <a:srgbClr val="E2831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858000" y="36667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avanzada de rutas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629400" y="4361688"/>
            <a:ext cx="91440" cy="91440"/>
          </a:xfrm>
          <a:prstGeom prst="ellipse">
            <a:avLst/>
          </a:prstGeom>
          <a:solidFill>
            <a:srgbClr val="E2831E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858000" y="42336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predictivo con IA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629400" y="4928616"/>
            <a:ext cx="91440" cy="91440"/>
          </a:xfrm>
          <a:prstGeom prst="ellipse">
            <a:avLst/>
          </a:prstGeom>
          <a:solidFill>
            <a:srgbClr val="E2831E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6858000" y="4800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sistemas externos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629400" y="5495544"/>
            <a:ext cx="91440" cy="91440"/>
          </a:xfrm>
          <a:prstGeom prst="ellipse">
            <a:avLst/>
          </a:prstGeom>
          <a:solidFill>
            <a:srgbClr val="E2831E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858000" y="53675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pago</a:t>
            </a:r>
            <a:endParaRPr lang="en-US" sz="1250" dirty="0"/>
          </a:p>
        </p:txBody>
      </p:sp>
      <p:sp>
        <p:nvSpPr>
          <p:cNvPr id="36" name="Text 3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INDICADORES DE CALIDAD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competencias del perfil de egreso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3840480"/>
          </a:xfrm>
          <a:prstGeom prst="roundRect">
            <a:avLst>
              <a:gd name="adj" fmla="val 3103"/>
            </a:avLst>
          </a:prstGeom>
          <a:solidFill>
            <a:srgbClr val="17364A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07568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flas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099" y="2229307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28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certificación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49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Diseño, aplicación y mejora de pruebas de validación de productos y procesos.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783080"/>
            <a:ext cx="2651760" cy="3840480"/>
          </a:xfrm>
          <a:prstGeom prst="roundRect">
            <a:avLst>
              <a:gd name="adj" fmla="val 3103"/>
            </a:avLst>
          </a:prstGeom>
          <a:solidFill>
            <a:srgbClr val="2E6171"/>
          </a:solidFill>
          <a:ln/>
        </p:spPr>
      </p:sp>
      <p:sp>
        <p:nvSpPr>
          <p:cNvPr id="11" name="Shape 8"/>
          <p:cNvSpPr/>
          <p:nvPr/>
        </p:nvSpPr>
        <p:spPr>
          <a:xfrm>
            <a:off x="4434840" y="207568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projectDiagram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459" y="2229307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28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3749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control del proyecto, ofreciendo alternativas para la toma de decisiones.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783080"/>
            <a:ext cx="2651760" cy="3840480"/>
          </a:xfrm>
          <a:prstGeom prst="roundRect">
            <a:avLst>
              <a:gd name="adj" fmla="val 3103"/>
            </a:avLst>
          </a:prstGeom>
          <a:solidFill>
            <a:srgbClr val="17364A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0" y="207568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icons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819" y="2229307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28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datos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3749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un modelo de datos escalable en MySQL.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89720" y="1783080"/>
            <a:ext cx="2651760" cy="3840480"/>
          </a:xfrm>
          <a:prstGeom prst="roundRect">
            <a:avLst>
              <a:gd name="adj" fmla="val 3103"/>
            </a:avLst>
          </a:prstGeom>
          <a:solidFill>
            <a:srgbClr val="2E6171"/>
          </a:solidFill>
          <a:ln/>
        </p:spPr>
      </p:sp>
      <p:sp>
        <p:nvSpPr>
          <p:cNvPr id="23" name="Shape 18"/>
          <p:cNvSpPr/>
          <p:nvPr/>
        </p:nvSpPr>
        <p:spPr>
          <a:xfrm>
            <a:off x="10195560" y="207568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icons/cog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9179" y="2229307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2688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28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932688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9372600" y="3749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Construcción, integración e implantación de la solución de software.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1 · PRUEBAS DE CERTIFICACIÓN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casos de prueba (extracto)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029200"/>
                <a:gridCol w="47548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Situación a validar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Resultado esperado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2831E"/>
                          </a:solidFill>
                        </a:rPr>
                        <a:t>CP-02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</a:rPr>
                        <a:t>Crear una orden sin cliente asociado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</a:rPr>
                        <a:t>El sistema impide el registro y valida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2831E"/>
                          </a:solidFill>
                        </a:rPr>
                        <a:t>CP-04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</a:rPr>
                        <a:t>Asignar un vehículo no disponible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</a:rPr>
                        <a:t>El sistema impide la asignación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E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2831E"/>
                          </a:solidFill>
                        </a:rPr>
                        <a:t>CP-06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</a:rPr>
                        <a:t>Cambiar de "Rechazado" a "Entregado"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</a:rPr>
                        <a:t>El sistema impide el cambio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2831E"/>
                          </a:solidFill>
                        </a:rPr>
                        <a:t>CP-07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</a:rPr>
                        <a:t>Kilometraje superior al límite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A30"/>
                          </a:solidFill>
                        </a:rPr>
                        <a:t>Se genera una alerta de mantenimiento</a:t>
                      </a:r>
                      <a:endParaRPr lang="en-US" sz="12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E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389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completa contempla 9 casos, cubriendo despachos, asignaciones, cambios de estado, mantenimiento y reportes.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8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REFLEXIÓN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aprendizajes de esta fase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0E243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2E6171"/>
          </a:solidFill>
          <a:ln/>
        </p:spPr>
      </p:sp>
      <p:pic>
        <p:nvPicPr>
          <p:cNvPr id="6" name="Image 0" descr="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457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 alcance realista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un MVP evita comprometer el proyecto con funcionalidades que excedan el tiempo disponible.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0E2431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103120"/>
            <a:ext cx="594360" cy="594360"/>
          </a:xfrm>
          <a:prstGeom prst="ellipse">
            <a:avLst/>
          </a:prstGeom>
          <a:solidFill>
            <a:srgbClr val="2E6171"/>
          </a:solidFill>
          <a:ln/>
        </p:spPr>
      </p:sp>
      <p:pic>
        <p:nvPicPr>
          <p:cNvPr id="11" name="Image 1" descr="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66" y="224576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 real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5204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responsabilidades y comunicar avances son claves en un desarrollo de software real.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0E2431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103120"/>
            <a:ext cx="594360" cy="594360"/>
          </a:xfrm>
          <a:prstGeom prst="ellipse">
            <a:avLst/>
          </a:prstGeom>
          <a:solidFill>
            <a:srgbClr val="2E6171"/>
          </a:solidFill>
          <a:ln/>
        </p:spPr>
      </p:sp>
      <p:pic>
        <p:nvPicPr>
          <p:cNvPr id="16" name="Image 2" descr="icons/clipboard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224576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desde el inicio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52044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deben pensarse junto con los requerimientos, no solo al final del desarrollo.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28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“El proyecto nos permitió entender que el desarrollo de software involucra mucho más que programar: análisis, diseño, planificación y trabajo en equipo.”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F4F1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68680" y="3337560"/>
            <a:ext cx="2011680" cy="0"/>
          </a:xfrm>
          <a:prstGeom prst="line">
            <a:avLst/>
          </a:prstGeom>
          <a:noFill/>
          <a:ln w="31750">
            <a:solidFill>
              <a:srgbClr val="E283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— Plataforma de gestión logística, despacho de pedidos y mantenimiento de flotas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Constanza Alarcón · Francisco Cofré · Felipe Huenten · Joaquín Indo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2026-09-05T03:38:45Z</dcterms:created>
  <dcterms:modified xsi:type="dcterms:W3CDTF">2026-09-05T03:38:45Z</dcterms:modified>
</cp:coreProperties>
</file>